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handoutMasterIdLst>
    <p:handoutMasterId r:id="rId24"/>
  </p:handoutMasterIdLst>
  <p:sldIdLst>
    <p:sldId id="280" r:id="rId2"/>
    <p:sldId id="366" r:id="rId3"/>
    <p:sldId id="380" r:id="rId4"/>
    <p:sldId id="383" r:id="rId5"/>
    <p:sldId id="384" r:id="rId6"/>
    <p:sldId id="400" r:id="rId7"/>
    <p:sldId id="385" r:id="rId8"/>
    <p:sldId id="386" r:id="rId9"/>
    <p:sldId id="387" r:id="rId10"/>
    <p:sldId id="388" r:id="rId11"/>
    <p:sldId id="389" r:id="rId12"/>
    <p:sldId id="390" r:id="rId13"/>
    <p:sldId id="401" r:id="rId14"/>
    <p:sldId id="391" r:id="rId15"/>
    <p:sldId id="402" r:id="rId16"/>
    <p:sldId id="403" r:id="rId17"/>
    <p:sldId id="404" r:id="rId18"/>
    <p:sldId id="392" r:id="rId19"/>
    <p:sldId id="393" r:id="rId20"/>
    <p:sldId id="394" r:id="rId21"/>
    <p:sldId id="28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68" d="100"/>
          <a:sy n="68" d="100"/>
        </p:scale>
        <p:origin x="154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110264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4195031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840823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2258448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738133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smtClean="0">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smtClean="0">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smtClean="0">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4322209" cy="1323439"/>
            </a:xfrm>
            <a:prstGeom prst="rect">
              <a:avLst/>
            </a:prstGeom>
            <a:noFill/>
          </p:spPr>
          <p:txBody>
            <a:bodyPr wrap="square" rtlCol="0">
              <a:spAutoFit/>
            </a:bodyPr>
            <a:lstStyle/>
            <a:p>
              <a:r>
                <a:rPr lang="en-US" sz="2000" b="1" dirty="0" smtClean="0"/>
                <a:t>REG NO : 220701226</a:t>
              </a:r>
              <a:endParaRPr lang="en-US" sz="2000" b="1" dirty="0" smtClean="0"/>
            </a:p>
            <a:p>
              <a:r>
                <a:rPr lang="en-US" sz="2000" b="1" dirty="0" smtClean="0"/>
                <a:t>NAME : RISHIKESH.T</a:t>
              </a:r>
              <a:endParaRPr lang="en-US" sz="2000" b="1" dirty="0" smtClean="0"/>
            </a:p>
            <a:p>
              <a:r>
                <a:rPr lang="en-US" sz="2000" b="1" dirty="0" smtClean="0"/>
                <a:t>COORDINATOR : </a:t>
              </a:r>
              <a:r>
                <a:rPr lang="en-US" sz="2000" b="1" dirty="0" err="1" smtClean="0"/>
                <a:t>Durai</a:t>
              </a:r>
              <a:r>
                <a:rPr lang="en-US" sz="2000" b="1" dirty="0" smtClean="0"/>
                <a:t> </a:t>
              </a:r>
              <a:r>
                <a:rPr lang="en-US" sz="2000" b="1" dirty="0" err="1" smtClean="0"/>
                <a:t>Murugan</a:t>
              </a:r>
              <a:r>
                <a:rPr lang="en-US" sz="2000" b="1" dirty="0" err="1"/>
                <a:t>.</a:t>
              </a:r>
              <a:r>
                <a:rPr lang="en-US" sz="2000" b="1" dirty="0" err="1" smtClean="0"/>
                <a:t>N</a:t>
              </a:r>
              <a:endParaRPr lang="en-US" sz="2000" b="1" dirty="0" smtClean="0"/>
            </a:p>
            <a:p>
              <a:r>
                <a:rPr lang="en-US" sz="2000" b="1" dirty="0" smtClean="0"/>
                <a:t>Computer Science and Engineering</a:t>
              </a:r>
              <a:endParaRPr lang="en-US" sz="2000" b="1" dirty="0"/>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smtClean="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smtClean="0">
                      <a:solidFill>
                        <a:schemeClr val="bg1"/>
                      </a:solidFill>
                      <a:ea typeface="Open Sans Light" panose="020B0306030504020204" pitchFamily="34" charset="0"/>
                      <a:cs typeface="Open Sans Light" panose="020B0306030504020204" pitchFamily="34" charset="0"/>
                    </a:rPr>
                    <a:t>Robotic Process Automation </a:t>
                  </a:r>
                  <a:endParaRPr lang="en-US" sz="2000" b="1" dirty="0">
                    <a:solidFill>
                      <a:schemeClr val="bg1"/>
                    </a:solidFill>
                    <a:ea typeface="Open Sans Light" panose="020B0306030504020204" pitchFamily="34" charset="0"/>
                    <a:cs typeface="Open Sans Light" panose="020B0306030504020204" pitchFamily="34" charset="0"/>
                  </a:endParaRPr>
                </a:p>
              </p:txBody>
            </p:sp>
          </p:grpSp>
          <p:sp>
            <p:nvSpPr>
              <p:cNvPr id="48" name="TextBox 47"/>
              <p:cNvSpPr txBox="1"/>
              <p:nvPr/>
            </p:nvSpPr>
            <p:spPr>
              <a:xfrm>
                <a:off x="138075" y="2475825"/>
                <a:ext cx="4188156" cy="1446550"/>
              </a:xfrm>
              <a:prstGeom prst="rect">
                <a:avLst/>
              </a:prstGeom>
              <a:noFill/>
            </p:spPr>
            <p:txBody>
              <a:bodyPr wrap="square" rtlCol="0">
                <a:spAutoFit/>
              </a:bodyPr>
              <a:lstStyle/>
              <a:p>
                <a:r>
                  <a:rPr lang="en-US" sz="4400" b="1" dirty="0" smtClean="0">
                    <a:solidFill>
                      <a:schemeClr val="bg1"/>
                    </a:solidFill>
                    <a:ea typeface="Open Sans Bold" panose="020B0806030504020204" pitchFamily="34" charset="0"/>
                    <a:cs typeface="Open Sans Bold" panose="020B0806030504020204" pitchFamily="34" charset="0"/>
                  </a:rPr>
                  <a:t>Job Qualification</a:t>
                </a:r>
              </a:p>
              <a:p>
                <a:r>
                  <a:rPr lang="en-US" sz="4400" b="1" dirty="0" smtClean="0">
                    <a:solidFill>
                      <a:schemeClr val="bg1"/>
                    </a:solidFill>
                    <a:ea typeface="Open Sans Bold" panose="020B0806030504020204" pitchFamily="34" charset="0"/>
                    <a:cs typeface="Open Sans Bold" panose="020B0806030504020204" pitchFamily="34" charset="0"/>
                  </a:rPr>
                  <a:t>Automation</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r>
              <a:rPr lang="en-US" dirty="0"/>
              <a:t>In today’s competitive job market, automating candidate evaluation processes has become essential for improving efficiency and accuracy in recruitment workflows. This project presents a Job Qualification Automation System designed and implemented using </a:t>
            </a:r>
            <a:r>
              <a:rPr lang="en-US" dirty="0" err="1"/>
              <a:t>UiPath</a:t>
            </a:r>
            <a:r>
              <a:rPr lang="en-US" dirty="0"/>
              <a:t> Studio to streamline the evaluation of job applicants based on predefined criteria such as experience, skills, and education. The automation begins by reading candidate details from an Excel sheet and processing the data using </a:t>
            </a:r>
            <a:r>
              <a:rPr lang="en-US" dirty="0" err="1"/>
              <a:t>UiPath's</a:t>
            </a:r>
            <a:r>
              <a:rPr lang="en-US" dirty="0"/>
              <a:t> powerful </a:t>
            </a:r>
            <a:r>
              <a:rPr lang="en-US" dirty="0" err="1"/>
              <a:t>DataTable</a:t>
            </a:r>
            <a:r>
              <a:rPr lang="en-US" dirty="0"/>
              <a:t> operations. For each candidate, the system verifies qualifications against the job requirements, marking them as either "Qualified" or "Not Qualified" based on specific conditions. The results are dynamically updated in the candidate data sheet, ensuring transparency and traceability. Additionally, qualified candidates are notified via email, leveraging the Send SMTP Mail Message activity. Emails are customized to include personalized messages, enhancing communication and ensuring professionalism. The project incorporates error handling mechanisms to manage invalid or missing data, ensuring robustness and scalability for real-world applications.</a:t>
            </a:r>
          </a:p>
          <a:p>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normAutofit fontScale="85000" lnSpcReduction="10000"/>
          </a:bodyPr>
          <a:lstStyle/>
          <a:p>
            <a:r>
              <a:rPr lang="en-US" dirty="0"/>
              <a:t>The Job Qualification Automation project is designed to streamline the recruitment process by automating the evaluation of candidates against predefined job criteria. Built using </a:t>
            </a:r>
            <a:r>
              <a:rPr lang="en-US" dirty="0" err="1"/>
              <a:t>UiPath</a:t>
            </a:r>
            <a:r>
              <a:rPr lang="en-US" dirty="0"/>
              <a:t> Studio, this system reads candidate data from an Excel sheet, including details such as education, skills, experience, and email addresses. It evaluates each candidate’s qualifications by comparing their information with job-specific requirements, such as minimum years of experience, necessary skill sets, and education level.</a:t>
            </a:r>
          </a:p>
          <a:p>
            <a:r>
              <a:rPr lang="en-US" dirty="0"/>
              <a:t>Based on the evaluation, the system updates the Excel sheet with a "Qualified" or "Not Qualified" status for each candidate. For those who meet the criteria, the automation sends a personalized email notification using an SMTP server, informing them of their qualification. The workflow ensures efficiency, accuracy, and consistency in candidate screening, reducing manual effort and human errors. This project highlights the integration of robotic process automation (RPA) with email communication, demonstrating the power of automation in HR and recruitment workflows</a:t>
            </a:r>
            <a:r>
              <a:rPr lang="en-US" dirty="0" smtClean="0"/>
              <a:t>.</a:t>
            </a: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dirty="0"/>
              <a:t>The proposed Job Qualification Automation System offers several advantages, significantly enhancing the recruitment process. By automating candidate evaluation, the system ensures accuracy and consistency in screening against predefined job criteria, eliminating manual errors and reducing human bias. It saves substantial time and effort for HR teams by efficiently processing large volumes of candidate data in seconds. The system’s ability to update qualification statuses in real-time and send personalized email notifications to qualified candidates streamlines communication and accelerates the hiring process. Additionally, it provides a scalable and cost-effective solution for organizations, ensuring reliable and data-driven decision-making in recruitment workflows.</a:t>
            </a:r>
          </a:p>
        </p:txBody>
      </p:sp>
    </p:spTree>
    <p:custDataLst>
      <p:tags r:id="rId1"/>
    </p:custDataLst>
    <p:extLst>
      <p:ext uri="{BB962C8B-B14F-4D97-AF65-F5344CB8AC3E}">
        <p14:creationId xmlns:p14="http://schemas.microsoft.com/office/powerpoint/2010/main" val="13323072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lstStyle/>
          <a:p>
            <a:r>
              <a:rPr lang="en-US" b="1" dirty="0"/>
              <a:t>Paper 1:</a:t>
            </a:r>
            <a:r>
              <a:rPr lang="en-US" dirty="0"/>
              <a:t/>
            </a:r>
            <a:br>
              <a:rPr lang="en-US" dirty="0"/>
            </a:br>
            <a:r>
              <a:rPr lang="en-US" b="1" dirty="0"/>
              <a:t>Title:</a:t>
            </a:r>
            <a:r>
              <a:rPr lang="en-US" dirty="0"/>
              <a:t> </a:t>
            </a:r>
            <a:r>
              <a:rPr lang="en-US" i="1" dirty="0"/>
              <a:t>Automation of Candidate Screening Using RPA</a:t>
            </a:r>
            <a:endParaRPr lang="en-US" dirty="0"/>
          </a:p>
          <a:p>
            <a:r>
              <a:rPr lang="en-US" b="1" dirty="0"/>
              <a:t>Advantages:</a:t>
            </a:r>
            <a:endParaRPr lang="en-US" dirty="0"/>
          </a:p>
          <a:p>
            <a:pPr lvl="1"/>
            <a:r>
              <a:rPr lang="en-US" dirty="0"/>
              <a:t>Reduces human intervention in candidate evaluation.</a:t>
            </a:r>
          </a:p>
          <a:p>
            <a:pPr lvl="1"/>
            <a:r>
              <a:rPr lang="en-US" dirty="0"/>
              <a:t>Speeds up the recruitment process by processing large datasets efficiently.</a:t>
            </a:r>
          </a:p>
          <a:p>
            <a:pPr lvl="1"/>
            <a:r>
              <a:rPr lang="en-US" dirty="0"/>
              <a:t>Enhances accuracy by minimizing manual errors.</a:t>
            </a:r>
          </a:p>
          <a:p>
            <a:pPr lvl="1"/>
            <a:r>
              <a:rPr lang="en-US" dirty="0"/>
              <a:t>Allows integration with email systems for automated notifications.</a:t>
            </a:r>
          </a:p>
          <a:p>
            <a:r>
              <a:rPr lang="en-US" b="1" dirty="0"/>
              <a:t>Disadvantages:</a:t>
            </a:r>
            <a:endParaRPr lang="en-US" dirty="0"/>
          </a:p>
          <a:p>
            <a:pPr lvl="1"/>
            <a:r>
              <a:rPr lang="en-US" dirty="0"/>
              <a:t>Limited flexibility in handling highly subjective evaluation criteria.</a:t>
            </a:r>
          </a:p>
          <a:p>
            <a:pPr lvl="1"/>
            <a:r>
              <a:rPr lang="en-US" dirty="0"/>
              <a:t>Dependence on structured and well-maintained data inputs for reliable outcomes.</a:t>
            </a:r>
          </a:p>
          <a:p>
            <a:endParaRPr lang="en-US" dirty="0" smtClean="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b="1" dirty="0"/>
              <a:t>Paper 2:</a:t>
            </a:r>
            <a:r>
              <a:rPr lang="en-US" dirty="0"/>
              <a:t/>
            </a:r>
            <a:br>
              <a:rPr lang="en-US" dirty="0"/>
            </a:br>
            <a:r>
              <a:rPr lang="en-US" b="1" dirty="0"/>
              <a:t>Title:</a:t>
            </a:r>
            <a:r>
              <a:rPr lang="en-US" dirty="0"/>
              <a:t> </a:t>
            </a:r>
            <a:r>
              <a:rPr lang="en-US" i="1" dirty="0"/>
              <a:t>AI and Automation in HR: Transforming Recruitment Workflows</a:t>
            </a:r>
            <a:endParaRPr lang="en-US" dirty="0"/>
          </a:p>
          <a:p>
            <a:r>
              <a:rPr lang="en-US" b="1" dirty="0"/>
              <a:t>Advantages:</a:t>
            </a:r>
            <a:endParaRPr lang="en-US" dirty="0"/>
          </a:p>
          <a:p>
            <a:pPr lvl="1"/>
            <a:r>
              <a:rPr lang="en-US" dirty="0"/>
              <a:t>Demonstrates scalability for handling high-volume recruitment.</a:t>
            </a:r>
          </a:p>
          <a:p>
            <a:pPr lvl="1"/>
            <a:r>
              <a:rPr lang="en-US" dirty="0"/>
              <a:t>Improves data-driven decision-making through predefined job qualification criteria.</a:t>
            </a:r>
          </a:p>
          <a:p>
            <a:pPr lvl="1"/>
            <a:r>
              <a:rPr lang="en-US" dirty="0"/>
              <a:t>Provides real-time updates and maintains consistency across candidate evaluations.</a:t>
            </a:r>
          </a:p>
          <a:p>
            <a:r>
              <a:rPr lang="en-US" b="1" dirty="0"/>
              <a:t>Disadvantages:</a:t>
            </a:r>
            <a:endParaRPr lang="en-US" dirty="0"/>
          </a:p>
          <a:p>
            <a:pPr lvl="1"/>
            <a:r>
              <a:rPr lang="en-US" dirty="0"/>
              <a:t>Initial setup requires significant time and resources.</a:t>
            </a:r>
          </a:p>
          <a:p>
            <a:pPr lvl="1"/>
            <a:r>
              <a:rPr lang="en-US" dirty="0"/>
              <a:t>May face challenges integrating with legacy systems or unstructured datasets.</a:t>
            </a:r>
          </a:p>
          <a:p>
            <a:endParaRPr lang="en-US" dirty="0" smtClean="0"/>
          </a:p>
          <a:p>
            <a:endParaRPr lang="en-US" dirty="0"/>
          </a:p>
        </p:txBody>
      </p:sp>
    </p:spTree>
    <p:custDataLst>
      <p:tags r:id="rId1"/>
    </p:custDataLst>
    <p:extLst>
      <p:ext uri="{BB962C8B-B14F-4D97-AF65-F5344CB8AC3E}">
        <p14:creationId xmlns:p14="http://schemas.microsoft.com/office/powerpoint/2010/main" val="23727200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Main Objective</a:t>
            </a:r>
            <a:endParaRPr lang="en-IN" dirty="0">
              <a:latin typeface="+mj-lt"/>
            </a:endParaRPr>
          </a:p>
        </p:txBody>
      </p:sp>
      <p:sp>
        <p:nvSpPr>
          <p:cNvPr id="3" name="Content Placeholder 2"/>
          <p:cNvSpPr>
            <a:spLocks noGrp="1"/>
          </p:cNvSpPr>
          <p:nvPr>
            <p:ph idx="1"/>
          </p:nvPr>
        </p:nvSpPr>
        <p:spPr/>
        <p:txBody>
          <a:bodyPr/>
          <a:lstStyle/>
          <a:p>
            <a:r>
              <a:rPr lang="en-US" dirty="0"/>
              <a:t>The main objective of the Job Qualification Automation project is to streamline and optimize the recruitment process by leveraging Robotic Process Automation (RPA) to evaluate candidate profiles against predefined job criteria efficiently. This system aims to automate repetitive tasks such as data extraction, qualification checks, and result notifications, ensuring accuracy, consistency, and faster decision-making while reducing manual effort and improving overall productivity in the hiring process.</a:t>
            </a:r>
          </a:p>
        </p:txBody>
      </p:sp>
    </p:spTree>
    <p:custDataLst>
      <p:tags r:id="rId1"/>
    </p:custDataLst>
    <p:extLst>
      <p:ext uri="{BB962C8B-B14F-4D97-AF65-F5344CB8AC3E}">
        <p14:creationId xmlns:p14="http://schemas.microsoft.com/office/powerpoint/2010/main" val="40945783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a:t>
            </a:r>
            <a:endParaRPr lang="en-IN" dirty="0">
              <a:latin typeface="+mj-lt"/>
            </a:endParaRPr>
          </a:p>
        </p:txBody>
      </p:sp>
      <p:pic>
        <p:nvPicPr>
          <p:cNvPr id="4" name="Content Placeholder 3"/>
          <p:cNvPicPr>
            <a:picLocks noGrp="1"/>
          </p:cNvPicPr>
          <p:nvPr>
            <p:ph idx="1"/>
          </p:nvPr>
        </p:nvPicPr>
        <p:blipFill>
          <a:blip r:embed="rId4"/>
          <a:stretch>
            <a:fillRect/>
          </a:stretch>
        </p:blipFill>
        <p:spPr>
          <a:xfrm>
            <a:off x="1156811" y="1757097"/>
            <a:ext cx="6830378" cy="3801005"/>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a:bodyPr>
          <a:lstStyle/>
          <a:p>
            <a:r>
              <a:rPr lang="en-US" dirty="0" err="1" smtClean="0"/>
              <a:t>UiPath</a:t>
            </a:r>
            <a:r>
              <a:rPr lang="en-US" dirty="0" smtClean="0"/>
              <a:t> </a:t>
            </a:r>
            <a:r>
              <a:rPr lang="en-US" dirty="0"/>
              <a:t>Studio (Enterprise or Community Edition).</a:t>
            </a:r>
          </a:p>
          <a:p>
            <a:r>
              <a:rPr lang="en-US" dirty="0" err="1"/>
              <a:t>UiPath</a:t>
            </a:r>
            <a:r>
              <a:rPr lang="en-US" dirty="0"/>
              <a:t> Robot (for unattended or attended automation).</a:t>
            </a:r>
          </a:p>
          <a:p>
            <a:r>
              <a:rPr lang="en-US" dirty="0" smtClean="0"/>
              <a:t>SMTP/IMAP </a:t>
            </a:r>
            <a:r>
              <a:rPr lang="en-US" dirty="0"/>
              <a:t>email server configured for sending notifications.</a:t>
            </a:r>
          </a:p>
          <a:p>
            <a:r>
              <a:rPr lang="en-US" dirty="0"/>
              <a:t>Excel/Spreadsheet Application:</a:t>
            </a:r>
          </a:p>
          <a:p>
            <a:r>
              <a:rPr lang="en-US" dirty="0"/>
              <a:t>Microsoft Excel (2016 or later) or equivalent software (Google Sheets, </a:t>
            </a:r>
            <a:r>
              <a:rPr lang="en-US" dirty="0" err="1"/>
              <a:t>LibreOffice</a:t>
            </a:r>
            <a:r>
              <a:rPr lang="en-US" dirty="0" smtClean="0"/>
              <a:t>).</a:t>
            </a:r>
          </a:p>
          <a:p>
            <a:endParaRPr lang="en-US" b="1" dirty="0"/>
          </a:p>
          <a:p>
            <a:r>
              <a:rPr lang="en-US" b="1" dirty="0" smtClean="0"/>
              <a:t>Other </a:t>
            </a:r>
            <a:r>
              <a:rPr lang="en-US" b="1" dirty="0"/>
              <a:t>Software</a:t>
            </a:r>
            <a:r>
              <a:rPr lang="en-US" dirty="0"/>
              <a:t>:</a:t>
            </a:r>
          </a:p>
          <a:p>
            <a:pPr lvl="1"/>
            <a:r>
              <a:rPr lang="en-US" dirty="0"/>
              <a:t>PDF reader for document processing (if candidate resumes are in PDF format).</a:t>
            </a:r>
          </a:p>
          <a:p>
            <a:pPr lvl="1"/>
            <a:r>
              <a:rPr lang="en-US" dirty="0"/>
              <a:t>Browser (Chrome/Edge) for automation involving web-based job portals.</a:t>
            </a:r>
          </a:p>
          <a:p>
            <a:endParaRPr lang="en-US" dirty="0" smtClean="0"/>
          </a:p>
        </p:txBody>
      </p:sp>
    </p:spTree>
    <p:custDataLst>
      <p:tags r:id="rId1"/>
    </p:custDataLst>
    <p:extLst>
      <p:ext uri="{BB962C8B-B14F-4D97-AF65-F5344CB8AC3E}">
        <p14:creationId xmlns:p14="http://schemas.microsoft.com/office/powerpoint/2010/main" val="12252271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r>
              <a:rPr lang="en-US" dirty="0"/>
              <a:t>The job qualification automation system is designed to streamline the recruitment process by automating the evaluation of candidates based on predefined criteria such as skills, qualifications, and experience. The system ensures consistency, reduces manual effort, and speeds up decision-making</a:t>
            </a:r>
            <a:r>
              <a:rPr lang="en-US" dirty="0" smtClean="0"/>
              <a:t>.</a:t>
            </a:r>
          </a:p>
          <a:p>
            <a:endParaRPr lang="en-US" dirty="0"/>
          </a:p>
          <a:p>
            <a:endParaRPr lang="en-US" dirty="0"/>
          </a:p>
        </p:txBody>
      </p:sp>
      <p:sp>
        <p:nvSpPr>
          <p:cNvPr id="4" name="Rectangle 1"/>
          <p:cNvSpPr>
            <a:spLocks noChangeArrowheads="1"/>
          </p:cNvSpPr>
          <p:nvPr/>
        </p:nvSpPr>
        <p:spPr bwMode="auto">
          <a:xfrm>
            <a:off x="539552" y="3176972"/>
            <a:ext cx="841394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system evaluates the candidate’s qualifications against job-specific requirements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rPr>
              <a:t>Skills</a:t>
            </a:r>
            <a:r>
              <a:rPr kumimoji="0" lang="en-US" altLang="en-US" b="0" i="0" u="none" strike="noStrike" cap="none" normalizeH="0" baseline="0" dirty="0" smtClean="0">
                <a:ln>
                  <a:noFill/>
                </a:ln>
                <a:solidFill>
                  <a:schemeClr val="tx1"/>
                </a:solidFill>
                <a:effectLst/>
                <a:latin typeface="Arial" panose="020B0604020202020204" pitchFamily="34" charset="0"/>
              </a:rPr>
              <a:t>: Matching candidate-provided skills with job requirements.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Experience</a:t>
            </a:r>
            <a:r>
              <a:rPr kumimoji="0" lang="en-US" altLang="en-US" sz="1800" b="0" i="0" u="none" strike="noStrike" cap="none" normalizeH="0" baseline="0" dirty="0" smtClean="0">
                <a:ln>
                  <a:noFill/>
                </a:ln>
                <a:solidFill>
                  <a:schemeClr val="tx1"/>
                </a:solidFill>
                <a:effectLst/>
                <a:latin typeface="Arial" panose="020B0604020202020204" pitchFamily="34" charset="0"/>
              </a:rPr>
              <a:t>: Calculating years of relevant experience.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Education</a:t>
            </a:r>
            <a:r>
              <a:rPr kumimoji="0" lang="en-US" altLang="en-US" sz="1800" b="0" i="0" u="none" strike="noStrike" cap="none" normalizeH="0" baseline="0" dirty="0" smtClean="0">
                <a:ln>
                  <a:noFill/>
                </a:ln>
                <a:solidFill>
                  <a:schemeClr val="tx1"/>
                </a:solidFill>
                <a:effectLst/>
                <a:latin typeface="Arial" panose="020B0604020202020204" pitchFamily="34" charset="0"/>
              </a:rPr>
              <a:t>: Verifying degree levels and fields of study.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custDataLst>
      <p:tags r:id="rId1"/>
    </p:custDataLst>
    <p:extLst>
      <p:ext uri="{BB962C8B-B14F-4D97-AF65-F5344CB8AC3E}">
        <p14:creationId xmlns:p14="http://schemas.microsoft.com/office/powerpoint/2010/main" val="7845066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Table Design</a:t>
            </a:r>
            <a:endParaRPr lang="en-IN" dirty="0">
              <a:latin typeface="+mj-lt"/>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82211"/>
            <a:ext cx="9144000" cy="4293577"/>
          </a:xfrm>
          <a:prstGeom prst="rect">
            <a:avLst/>
          </a:prstGeom>
        </p:spPr>
      </p:pic>
      <p:sp>
        <p:nvSpPr>
          <p:cNvPr id="6" name="Rectangle 5"/>
          <p:cNvSpPr/>
          <p:nvPr/>
        </p:nvSpPr>
        <p:spPr>
          <a:xfrm>
            <a:off x="7596336" y="5013176"/>
            <a:ext cx="1547664" cy="418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6391693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Process Design</a:t>
            </a:r>
            <a:endParaRPr lang="en-IN" dirty="0">
              <a:latin typeface="+mj-lt"/>
            </a:endParaRPr>
          </a:p>
        </p:txBody>
      </p:sp>
      <p:sp>
        <p:nvSpPr>
          <p:cNvPr id="3" name="Content Placeholder 2"/>
          <p:cNvSpPr>
            <a:spLocks noGrp="1"/>
          </p:cNvSpPr>
          <p:nvPr>
            <p:ph idx="1"/>
          </p:nvPr>
        </p:nvSpPr>
        <p:spPr>
          <a:xfrm>
            <a:off x="195509" y="914400"/>
            <a:ext cx="8763000" cy="5334000"/>
          </a:xfrm>
        </p:spPr>
        <p:txBody>
          <a:bodyPr>
            <a:normAutofit fontScale="85000" lnSpcReduction="20000"/>
          </a:bodyPr>
          <a:lstStyle/>
          <a:p>
            <a:r>
              <a:rPr lang="en-US" b="1" u="sng" dirty="0" smtClean="0"/>
              <a:t>Main Process</a:t>
            </a:r>
          </a:p>
          <a:p>
            <a:endParaRPr lang="en-US" dirty="0" smtClean="0"/>
          </a:p>
          <a:p>
            <a:r>
              <a:rPr lang="en-US" dirty="0" smtClean="0"/>
              <a:t>The </a:t>
            </a:r>
            <a:r>
              <a:rPr lang="en-US" dirty="0"/>
              <a:t>process begins when the user initiates the job qualification automation workflow</a:t>
            </a:r>
            <a:r>
              <a:rPr lang="en-US" dirty="0" smtClean="0"/>
              <a:t>.</a:t>
            </a:r>
          </a:p>
          <a:p>
            <a:endParaRPr lang="en-US" dirty="0"/>
          </a:p>
          <a:p>
            <a:r>
              <a:rPr lang="en-US" dirty="0" smtClean="0"/>
              <a:t>Retrieve </a:t>
            </a:r>
            <a:r>
              <a:rPr lang="en-US" dirty="0"/>
              <a:t>candidate information (such as resumes and details) from the provided Excel sheet or directory</a:t>
            </a:r>
            <a:r>
              <a:rPr lang="en-US" dirty="0" smtClean="0"/>
              <a:t>.</a:t>
            </a:r>
          </a:p>
          <a:p>
            <a:endParaRPr lang="en-US" dirty="0"/>
          </a:p>
          <a:p>
            <a:r>
              <a:rPr lang="en-US" dirty="0" smtClean="0"/>
              <a:t>Compare </a:t>
            </a:r>
            <a:r>
              <a:rPr lang="en-US" dirty="0"/>
              <a:t>candidate qualifications with the predefined job criteria using automated tools</a:t>
            </a:r>
            <a:r>
              <a:rPr lang="en-US" dirty="0" smtClean="0"/>
              <a:t>.</a:t>
            </a:r>
          </a:p>
          <a:p>
            <a:endParaRPr lang="en-US" dirty="0"/>
          </a:p>
          <a:p>
            <a:r>
              <a:rPr lang="en-US" dirty="0" smtClean="0"/>
              <a:t>Record </a:t>
            </a:r>
            <a:r>
              <a:rPr lang="en-US" dirty="0"/>
              <a:t>the evaluation status (Qualified/Not Qualified) in the Candidate Excel file</a:t>
            </a:r>
            <a:r>
              <a:rPr lang="en-US" dirty="0" smtClean="0"/>
              <a:t>.</a:t>
            </a:r>
          </a:p>
          <a:p>
            <a:endParaRPr lang="en-US" dirty="0"/>
          </a:p>
          <a:p>
            <a:r>
              <a:rPr lang="en-US" dirty="0" smtClean="0"/>
              <a:t>Automatically </a:t>
            </a:r>
            <a:r>
              <a:rPr lang="en-US" dirty="0"/>
              <a:t>send emails to qualified candidates informing them of their status.</a:t>
            </a:r>
          </a:p>
          <a:p>
            <a:pPr marL="0" indent="0">
              <a:buNone/>
            </a:pPr>
            <a:endParaRPr lang="en-US" dirty="0" smtClean="0"/>
          </a:p>
        </p:txBody>
      </p:sp>
    </p:spTree>
    <p:custDataLst>
      <p:tags r:id="rId1"/>
    </p:custDataLst>
    <p:extLst>
      <p:ext uri="{BB962C8B-B14F-4D97-AF65-F5344CB8AC3E}">
        <p14:creationId xmlns:p14="http://schemas.microsoft.com/office/powerpoint/2010/main" val="30234279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Process Design</a:t>
            </a:r>
            <a:endParaRPr lang="en-IN" dirty="0">
              <a:latin typeface="+mj-lt"/>
            </a:endParaRPr>
          </a:p>
        </p:txBody>
      </p:sp>
      <p:sp>
        <p:nvSpPr>
          <p:cNvPr id="3" name="Content Placeholder 2"/>
          <p:cNvSpPr>
            <a:spLocks noGrp="1"/>
          </p:cNvSpPr>
          <p:nvPr>
            <p:ph idx="1"/>
          </p:nvPr>
        </p:nvSpPr>
        <p:spPr>
          <a:xfrm>
            <a:off x="190500" y="499010"/>
            <a:ext cx="8763000" cy="5334000"/>
          </a:xfrm>
        </p:spPr>
        <p:txBody>
          <a:bodyPr>
            <a:normAutofit/>
          </a:bodyPr>
          <a:lstStyle/>
          <a:p>
            <a:pPr marL="0" indent="0">
              <a:buNone/>
            </a:pPr>
            <a:endParaRPr lang="en-US" dirty="0" smtClean="0"/>
          </a:p>
          <a:p>
            <a:r>
              <a:rPr lang="en-US" b="1" u="sng" dirty="0" smtClean="0"/>
              <a:t>Sub Process</a:t>
            </a:r>
          </a:p>
        </p:txBody>
      </p:sp>
      <p:sp>
        <p:nvSpPr>
          <p:cNvPr id="4" name="Rectangle 1"/>
          <p:cNvSpPr>
            <a:spLocks noChangeArrowheads="1"/>
          </p:cNvSpPr>
          <p:nvPr/>
        </p:nvSpPr>
        <p:spPr bwMode="auto">
          <a:xfrm rot="10800000" flipV="1">
            <a:off x="503548" y="1585693"/>
            <a:ext cx="779473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Extract key information (e.g., education, skills, experience) from candidate resumes using automation.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Match extracted candidate details against job criteria, such as required education, experience, and skills.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Use the SMTP protocol to send emails to the candidates’ registered email addresses.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Log any errors, such as missing data or email sending failures, for troubleshooting..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22330510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Implementation</a:t>
            </a:r>
            <a:endParaRPr lang="en-IN" dirty="0">
              <a:latin typeface="+mj-lt"/>
            </a:endParaRPr>
          </a:p>
        </p:txBody>
      </p:sp>
      <p:sp>
        <p:nvSpPr>
          <p:cNvPr id="3" name="Content Placeholder 2"/>
          <p:cNvSpPr>
            <a:spLocks noGrp="1"/>
          </p:cNvSpPr>
          <p:nvPr>
            <p:ph idx="1"/>
          </p:nvPr>
        </p:nvSpPr>
        <p:spPr/>
        <p:txBody>
          <a:bodyPr/>
          <a:lstStyle/>
          <a:p>
            <a:r>
              <a:rPr lang="en-US" dirty="0" smtClean="0"/>
              <a:t>Generate a Excel File will contain candidates detail</a:t>
            </a:r>
          </a:p>
        </p:txBody>
      </p:sp>
      <p:pic>
        <p:nvPicPr>
          <p:cNvPr id="4" name="Picture 3"/>
          <p:cNvPicPr/>
          <p:nvPr/>
        </p:nvPicPr>
        <p:blipFill>
          <a:blip r:embed="rId4"/>
          <a:stretch>
            <a:fillRect/>
          </a:stretch>
        </p:blipFill>
        <p:spPr>
          <a:xfrm>
            <a:off x="683568" y="1628800"/>
            <a:ext cx="7956884" cy="4500500"/>
          </a:xfrm>
          <a:prstGeom prst="rect">
            <a:avLst/>
          </a:prstGeom>
        </p:spPr>
      </p:pic>
    </p:spTree>
    <p:custDataLst>
      <p:tags r:id="rId1"/>
    </p:custDataLst>
    <p:extLst>
      <p:ext uri="{BB962C8B-B14F-4D97-AF65-F5344CB8AC3E}">
        <p14:creationId xmlns:p14="http://schemas.microsoft.com/office/powerpoint/2010/main" val="17694729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Implementation</a:t>
            </a:r>
            <a:endParaRPr lang="en-IN" dirty="0">
              <a:latin typeface="+mj-lt"/>
            </a:endParaRPr>
          </a:p>
        </p:txBody>
      </p:sp>
      <p:sp>
        <p:nvSpPr>
          <p:cNvPr id="3" name="Content Placeholder 2"/>
          <p:cNvSpPr>
            <a:spLocks noGrp="1"/>
          </p:cNvSpPr>
          <p:nvPr>
            <p:ph idx="1"/>
          </p:nvPr>
        </p:nvSpPr>
        <p:spPr/>
        <p:txBody>
          <a:bodyPr/>
          <a:lstStyle/>
          <a:p>
            <a:r>
              <a:rPr lang="en-US" dirty="0" smtClean="0"/>
              <a:t>Job Requirements</a:t>
            </a:r>
            <a:r>
              <a:rPr lang="en-US" dirty="0" smtClean="0"/>
              <a:t> </a:t>
            </a:r>
            <a:r>
              <a:rPr lang="en-US" dirty="0"/>
              <a:t>Excel File</a:t>
            </a:r>
            <a:r>
              <a:rPr lang="en-US" dirty="0" smtClean="0"/>
              <a:t> </a:t>
            </a:r>
            <a:endParaRPr lang="en-US" dirty="0"/>
          </a:p>
        </p:txBody>
      </p:sp>
      <p:pic>
        <p:nvPicPr>
          <p:cNvPr id="5" name="Picture 4"/>
          <p:cNvPicPr/>
          <p:nvPr/>
        </p:nvPicPr>
        <p:blipFill>
          <a:blip r:embed="rId4"/>
          <a:stretch>
            <a:fillRect/>
          </a:stretch>
        </p:blipFill>
        <p:spPr>
          <a:xfrm>
            <a:off x="647564" y="1772816"/>
            <a:ext cx="7956884" cy="4176464"/>
          </a:xfrm>
          <a:prstGeom prst="rect">
            <a:avLst/>
          </a:prstGeom>
        </p:spPr>
      </p:pic>
    </p:spTree>
    <p:custDataLst>
      <p:tags r:id="rId1"/>
    </p:custDataLst>
    <p:extLst>
      <p:ext uri="{BB962C8B-B14F-4D97-AF65-F5344CB8AC3E}">
        <p14:creationId xmlns:p14="http://schemas.microsoft.com/office/powerpoint/2010/main" val="1793382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Implementation</a:t>
            </a:r>
            <a:endParaRPr lang="en-IN" dirty="0">
              <a:latin typeface="+mj-lt"/>
            </a:endParaRPr>
          </a:p>
        </p:txBody>
      </p:sp>
      <p:sp>
        <p:nvSpPr>
          <p:cNvPr id="3" name="Content Placeholder 2"/>
          <p:cNvSpPr>
            <a:spLocks noGrp="1"/>
          </p:cNvSpPr>
          <p:nvPr>
            <p:ph idx="1"/>
          </p:nvPr>
        </p:nvSpPr>
        <p:spPr/>
        <p:txBody>
          <a:bodyPr/>
          <a:lstStyle/>
          <a:p>
            <a:r>
              <a:rPr lang="en-US" dirty="0" smtClean="0"/>
              <a:t>After processing the Workflow Process Qualification </a:t>
            </a:r>
            <a:r>
              <a:rPr lang="en-US" dirty="0"/>
              <a:t>Status </a:t>
            </a:r>
            <a:r>
              <a:rPr lang="en-US" dirty="0" smtClean="0"/>
              <a:t>Details Will Be Stored in The </a:t>
            </a:r>
            <a:r>
              <a:rPr lang="en-US" dirty="0"/>
              <a:t>Excel File </a:t>
            </a:r>
          </a:p>
        </p:txBody>
      </p:sp>
      <p:pic>
        <p:nvPicPr>
          <p:cNvPr id="6" name="Picture 5"/>
          <p:cNvPicPr/>
          <p:nvPr/>
        </p:nvPicPr>
        <p:blipFill>
          <a:blip r:embed="rId4"/>
          <a:stretch>
            <a:fillRect/>
          </a:stretch>
        </p:blipFill>
        <p:spPr>
          <a:xfrm>
            <a:off x="568418" y="1932112"/>
            <a:ext cx="8007164" cy="4392488"/>
          </a:xfrm>
          <a:prstGeom prst="rect">
            <a:avLst/>
          </a:prstGeom>
        </p:spPr>
      </p:pic>
    </p:spTree>
    <p:custDataLst>
      <p:tags r:id="rId1"/>
    </p:custDataLst>
    <p:extLst>
      <p:ext uri="{BB962C8B-B14F-4D97-AF65-F5344CB8AC3E}">
        <p14:creationId xmlns:p14="http://schemas.microsoft.com/office/powerpoint/2010/main" val="1007295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Implementation</a:t>
            </a:r>
            <a:endParaRPr lang="en-IN" dirty="0">
              <a:latin typeface="+mj-lt"/>
            </a:endParaRPr>
          </a:p>
        </p:txBody>
      </p:sp>
      <p:sp>
        <p:nvSpPr>
          <p:cNvPr id="3" name="Content Placeholder 2"/>
          <p:cNvSpPr>
            <a:spLocks noGrp="1"/>
          </p:cNvSpPr>
          <p:nvPr>
            <p:ph idx="1"/>
          </p:nvPr>
        </p:nvSpPr>
        <p:spPr/>
        <p:txBody>
          <a:bodyPr/>
          <a:lstStyle/>
          <a:p>
            <a:r>
              <a:rPr lang="en-US" dirty="0" smtClean="0"/>
              <a:t>If The Candidate Is Qualified They </a:t>
            </a:r>
            <a:r>
              <a:rPr lang="en-US" dirty="0"/>
              <a:t>Will </a:t>
            </a:r>
            <a:r>
              <a:rPr lang="en-US" dirty="0" smtClean="0"/>
              <a:t>Receive </a:t>
            </a:r>
            <a:r>
              <a:rPr lang="en-US" dirty="0"/>
              <a:t>T</a:t>
            </a:r>
            <a:r>
              <a:rPr lang="en-US" dirty="0" smtClean="0"/>
              <a:t>he Email Notification.</a:t>
            </a:r>
            <a:endParaRPr lang="en-US" dirty="0"/>
          </a:p>
        </p:txBody>
      </p:sp>
      <p:pic>
        <p:nvPicPr>
          <p:cNvPr id="5" name="Picture 4"/>
          <p:cNvPicPr/>
          <p:nvPr/>
        </p:nvPicPr>
        <p:blipFill>
          <a:blip r:embed="rId4"/>
          <a:stretch>
            <a:fillRect/>
          </a:stretch>
        </p:blipFill>
        <p:spPr>
          <a:xfrm>
            <a:off x="611560" y="2035896"/>
            <a:ext cx="7920880" cy="4284476"/>
          </a:xfrm>
          <a:prstGeom prst="rect">
            <a:avLst/>
          </a:prstGeom>
        </p:spPr>
      </p:pic>
    </p:spTree>
    <p:custDataLst>
      <p:tags r:id="rId1"/>
    </p:custDataLst>
    <p:extLst>
      <p:ext uri="{BB962C8B-B14F-4D97-AF65-F5344CB8AC3E}">
        <p14:creationId xmlns:p14="http://schemas.microsoft.com/office/powerpoint/2010/main" val="38670290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Testing</a:t>
            </a:r>
            <a:endParaRPr lang="en-IN" dirty="0">
              <a:latin typeface="+mj-lt"/>
            </a:endParaRPr>
          </a:p>
        </p:txBody>
      </p:sp>
      <p:sp>
        <p:nvSpPr>
          <p:cNvPr id="3" name="Content Placeholder 2"/>
          <p:cNvSpPr>
            <a:spLocks noGrp="1"/>
          </p:cNvSpPr>
          <p:nvPr>
            <p:ph idx="1"/>
          </p:nvPr>
        </p:nvSpPr>
        <p:spPr/>
        <p:txBody>
          <a:bodyPr/>
          <a:lstStyle/>
          <a:p>
            <a:r>
              <a:rPr lang="en-US" dirty="0" err="1" smtClean="0"/>
              <a:t>UiPath</a:t>
            </a:r>
            <a:r>
              <a:rPr lang="en-US" dirty="0" smtClean="0"/>
              <a:t> </a:t>
            </a:r>
            <a:r>
              <a:rPr lang="en-US" dirty="0"/>
              <a:t>Debugging Tools: For step-by-step workflow validation</a:t>
            </a:r>
            <a:r>
              <a:rPr lang="en-US" dirty="0" smtClean="0"/>
              <a:t>.</a:t>
            </a:r>
          </a:p>
          <a:p>
            <a:endParaRPr lang="en-US" dirty="0"/>
          </a:p>
          <a:p>
            <a:r>
              <a:rPr lang="en-US" dirty="0" smtClean="0"/>
              <a:t>Excel </a:t>
            </a:r>
            <a:r>
              <a:rPr lang="en-US" dirty="0"/>
              <a:t>Validation: To confirm accurate data updates in the candidate sheet.</a:t>
            </a:r>
          </a:p>
          <a:p>
            <a:endParaRPr lang="en-US" dirty="0" smtClean="0"/>
          </a:p>
          <a:p>
            <a:r>
              <a:rPr lang="en-US" dirty="0" smtClean="0"/>
              <a:t>SMTP </a:t>
            </a:r>
            <a:r>
              <a:rPr lang="en-US" dirty="0"/>
              <a:t>Email Testing Tools: For verifying email functionality.</a:t>
            </a:r>
          </a:p>
          <a:p>
            <a:endParaRPr lang="en-US" dirty="0" smtClean="0"/>
          </a:p>
          <a:p>
            <a:r>
              <a:rPr lang="en-US" dirty="0" smtClean="0"/>
              <a:t>Exception </a:t>
            </a:r>
            <a:r>
              <a:rPr lang="en-US" dirty="0"/>
              <a:t>Handling Logs: To track and fix errors</a:t>
            </a:r>
          </a:p>
          <a:p>
            <a:endParaRPr lang="en-US" dirty="0"/>
          </a:p>
        </p:txBody>
      </p:sp>
    </p:spTree>
    <p:custDataLst>
      <p:tags r:id="rId1"/>
    </p:custDataLst>
    <p:extLst>
      <p:ext uri="{BB962C8B-B14F-4D97-AF65-F5344CB8AC3E}">
        <p14:creationId xmlns:p14="http://schemas.microsoft.com/office/powerpoint/2010/main" val="19213275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Conclusions</a:t>
            </a:r>
            <a:endParaRPr lang="en-IN" dirty="0">
              <a:latin typeface="+mj-lt"/>
            </a:endParaRPr>
          </a:p>
        </p:txBody>
      </p:sp>
      <p:sp>
        <p:nvSpPr>
          <p:cNvPr id="3" name="Content Placeholder 2"/>
          <p:cNvSpPr>
            <a:spLocks noGrp="1"/>
          </p:cNvSpPr>
          <p:nvPr>
            <p:ph idx="1"/>
          </p:nvPr>
        </p:nvSpPr>
        <p:spPr/>
        <p:txBody>
          <a:bodyPr/>
          <a:lstStyle/>
          <a:p>
            <a:r>
              <a:rPr lang="en-US" dirty="0"/>
              <a:t>The Job Qualification Automation project successfully demonstrates the potential of automation technologies in streamlining the recruitment process. By integrating </a:t>
            </a:r>
            <a:r>
              <a:rPr lang="en-US" dirty="0" err="1"/>
              <a:t>UiPath</a:t>
            </a:r>
            <a:r>
              <a:rPr lang="en-US" dirty="0"/>
              <a:t> RPA, email services, and robust evaluation logic, this system efficiently processes candidate resumes, evaluates their qualifications, and sends personalized email notifications to eligible candidates. This approach not only saves significant time and resources for HR teams but also ensures accuracy and consistency in candidate evaluation.</a:t>
            </a:r>
            <a:endParaRPr lang="en-US" dirty="0" smtClean="0"/>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Future Enhancement</a:t>
            </a:r>
            <a:endParaRPr lang="en-IN" dirty="0">
              <a:latin typeface="+mj-lt"/>
            </a:endParaRPr>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a:p>
        </p:txBody>
      </p:sp>
      <p:sp>
        <p:nvSpPr>
          <p:cNvPr id="5" name="Rectangle 2"/>
          <p:cNvSpPr>
            <a:spLocks noChangeArrowheads="1"/>
          </p:cNvSpPr>
          <p:nvPr/>
        </p:nvSpPr>
        <p:spPr bwMode="auto">
          <a:xfrm>
            <a:off x="270393" y="1344926"/>
            <a:ext cx="869026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Use AI to predict candidate suitability based on hiring trends and role requirements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spcBef>
                <a:spcPct val="0"/>
              </a:spcBef>
              <a:spcAft>
                <a:spcPct val="0"/>
              </a:spcAft>
              <a:buFontTx/>
              <a:buChar char="•"/>
            </a:pPr>
            <a:r>
              <a:rPr kumimoji="0" lang="en-US" altLang="en-US" sz="1800" b="0" i="0" u="none" strike="noStrike" cap="none" normalizeH="0" baseline="0" dirty="0" smtClean="0">
                <a:ln>
                  <a:noFill/>
                </a:ln>
                <a:solidFill>
                  <a:schemeClr val="tx1"/>
                </a:solidFill>
                <a:effectLst/>
                <a:latin typeface="Arial" panose="020B0604020202020204" pitchFamily="34" charset="0"/>
              </a:rPr>
              <a:t>.</a:t>
            </a:r>
            <a:r>
              <a:rPr lang="en-US" altLang="en-US" dirty="0">
                <a:latin typeface="Arial" panose="020B0604020202020204" pitchFamily="34" charset="0"/>
              </a:rPr>
              <a:t> Let HR customize criteria weights for different roles (e.g., focus on technical skills or soft skills).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Add tools to analyze video interviews for speech, sentiment, and communication </a:t>
            </a:r>
            <a:r>
              <a:rPr lang="en-US" altLang="en-US" dirty="0" smtClean="0">
                <a:latin typeface="Arial" panose="020B0604020202020204" pitchFamily="34" charset="0"/>
              </a:rPr>
              <a:t>skills</a:t>
            </a:r>
          </a:p>
          <a:p>
            <a:pPr lvl="0" eaLnBrk="0" fontAlgn="base" hangingPunct="0">
              <a:spcBef>
                <a:spcPct val="0"/>
              </a:spcBef>
              <a:spcAft>
                <a:spcPct val="0"/>
              </a:spcAft>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lang="en-US" dirty="0"/>
              <a:t>Add a </a:t>
            </a:r>
            <a:r>
              <a:rPr lang="en-US" dirty="0" err="1"/>
              <a:t>chatbot</a:t>
            </a:r>
            <a:r>
              <a:rPr lang="en-US" dirty="0"/>
              <a:t> to guide candidates, answer questions, and provide updates.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4"/>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21108532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9354</TotalTime>
  <Words>1132</Words>
  <Application>Microsoft Office PowerPoint</Application>
  <PresentationFormat>On-screen Show (4:3)</PresentationFormat>
  <Paragraphs>138</Paragraphs>
  <Slides>21</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Calibri</vt:lpstr>
      <vt:lpstr>Open Sans</vt:lpstr>
      <vt:lpstr>Open Sans Bold</vt:lpstr>
      <vt:lpstr>Open Sans Extrabold</vt:lpstr>
      <vt:lpstr>Open Sans Light</vt:lpstr>
      <vt:lpstr>Open Sans Semibold</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Literature Survey</vt:lpstr>
      <vt:lpstr>Main Objective</vt:lpstr>
      <vt:lpstr>Architecture</vt:lpstr>
      <vt:lpstr>System Requirements</vt:lpstr>
      <vt:lpstr>Functional Description</vt:lpstr>
      <vt:lpstr>Table Design</vt:lpstr>
      <vt:lpstr>Process Design</vt:lpstr>
      <vt:lpstr>Process Design</vt:lpstr>
      <vt:lpstr>Implementation</vt:lpstr>
      <vt:lpstr>Implementation</vt:lpstr>
      <vt:lpstr>Implementation</vt:lpstr>
      <vt:lpstr>Implementation</vt:lpstr>
      <vt:lpstr>Testing</vt:lpstr>
      <vt:lpstr>Conclusions</vt:lpstr>
      <vt:lpstr>Future Enhancement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RISHIKESH T</cp:lastModifiedBy>
  <cp:revision>1758</cp:revision>
  <dcterms:created xsi:type="dcterms:W3CDTF">2013-05-17T03:00:03Z</dcterms:created>
  <dcterms:modified xsi:type="dcterms:W3CDTF">2024-11-22T01:49:22Z</dcterms:modified>
</cp:coreProperties>
</file>